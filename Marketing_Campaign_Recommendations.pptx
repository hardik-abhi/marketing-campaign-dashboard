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6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0EABC-87F0-4E7D-97B4-A90AF04B3B41}" v="92" dt="2026-04-10T20:37:38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dik Mudgal" userId="0d7af00a1966c7e5" providerId="LiveId" clId="{A38D9160-99D5-4D1B-AA30-5D963F8B5859}"/>
    <pc:docChg chg="undo custSel addSld modSld modMainMaster">
      <pc:chgData name="Hardik Mudgal" userId="0d7af00a1966c7e5" providerId="LiveId" clId="{A38D9160-99D5-4D1B-AA30-5D963F8B5859}" dt="2026-04-10T20:37:38.857" v="310"/>
      <pc:docMkLst>
        <pc:docMk/>
      </pc:docMkLst>
      <pc:sldChg chg="modSp mod setBg">
        <pc:chgData name="Hardik Mudgal" userId="0d7af00a1966c7e5" providerId="LiveId" clId="{A38D9160-99D5-4D1B-AA30-5D963F8B5859}" dt="2026-04-10T20:37:38.857" v="310"/>
        <pc:sldMkLst>
          <pc:docMk/>
          <pc:sldMk cId="3897357100" sldId="256"/>
        </pc:sldMkLst>
        <pc:spChg chg="mod">
          <ac:chgData name="Hardik Mudgal" userId="0d7af00a1966c7e5" providerId="LiveId" clId="{A38D9160-99D5-4D1B-AA30-5D963F8B5859}" dt="2026-04-10T18:43:22.512" v="61" actId="14100"/>
          <ac:spMkLst>
            <pc:docMk/>
            <pc:sldMk cId="3897357100" sldId="256"/>
            <ac:spMk id="2" creationId="{5D3BBB62-AA29-602C-044A-871839D89D0F}"/>
          </ac:spMkLst>
        </pc:spChg>
        <pc:spChg chg="mod">
          <ac:chgData name="Hardik Mudgal" userId="0d7af00a1966c7e5" providerId="LiveId" clId="{A38D9160-99D5-4D1B-AA30-5D963F8B5859}" dt="2026-04-10T18:44:47.486" v="161" actId="20577"/>
          <ac:spMkLst>
            <pc:docMk/>
            <pc:sldMk cId="3897357100" sldId="256"/>
            <ac:spMk id="3" creationId="{DE461F83-BC40-5DB3-79FA-74678A1052E2}"/>
          </ac:spMkLst>
        </pc:spChg>
      </pc:sldChg>
      <pc:sldChg chg="addSp delSp modSp new mod">
        <pc:chgData name="Hardik Mudgal" userId="0d7af00a1966c7e5" providerId="LiveId" clId="{A38D9160-99D5-4D1B-AA30-5D963F8B5859}" dt="2026-04-10T18:52:09.463" v="195" actId="1076"/>
        <pc:sldMkLst>
          <pc:docMk/>
          <pc:sldMk cId="3018937594" sldId="257"/>
        </pc:sldMkLst>
        <pc:spChg chg="mod">
          <ac:chgData name="Hardik Mudgal" userId="0d7af00a1966c7e5" providerId="LiveId" clId="{A38D9160-99D5-4D1B-AA30-5D963F8B5859}" dt="2026-04-10T18:50:17.416" v="180" actId="14100"/>
          <ac:spMkLst>
            <pc:docMk/>
            <pc:sldMk cId="3018937594" sldId="257"/>
            <ac:spMk id="2" creationId="{B7AECADC-4E4E-4DF3-6D13-3018608E84A2}"/>
          </ac:spMkLst>
        </pc:spChg>
        <pc:spChg chg="del">
          <ac:chgData name="Hardik Mudgal" userId="0d7af00a1966c7e5" providerId="LiveId" clId="{A38D9160-99D5-4D1B-AA30-5D963F8B5859}" dt="2026-04-10T18:48:52.195" v="165"/>
          <ac:spMkLst>
            <pc:docMk/>
            <pc:sldMk cId="3018937594" sldId="257"/>
            <ac:spMk id="3" creationId="{C2B68D58-23CB-FDA4-B4FF-55FC16C789A0}"/>
          </ac:spMkLst>
        </pc:spChg>
        <pc:spChg chg="add mod">
          <ac:chgData name="Hardik Mudgal" userId="0d7af00a1966c7e5" providerId="LiveId" clId="{A38D9160-99D5-4D1B-AA30-5D963F8B5859}" dt="2026-04-10T18:52:09.463" v="195" actId="1076"/>
          <ac:spMkLst>
            <pc:docMk/>
            <pc:sldMk cId="3018937594" sldId="257"/>
            <ac:spMk id="4" creationId="{D0258CBC-A812-4F70-AC08-74D3315192B8}"/>
          </ac:spMkLst>
        </pc:spChg>
      </pc:sldChg>
      <pc:sldChg chg="addSp delSp modSp new mod">
        <pc:chgData name="Hardik Mudgal" userId="0d7af00a1966c7e5" providerId="LiveId" clId="{A38D9160-99D5-4D1B-AA30-5D963F8B5859}" dt="2026-04-10T18:54:45.708" v="204" actId="14100"/>
        <pc:sldMkLst>
          <pc:docMk/>
          <pc:sldMk cId="1118294457" sldId="258"/>
        </pc:sldMkLst>
        <pc:spChg chg="mod">
          <ac:chgData name="Hardik Mudgal" userId="0d7af00a1966c7e5" providerId="LiveId" clId="{A38D9160-99D5-4D1B-AA30-5D963F8B5859}" dt="2026-04-10T18:52:36.277" v="198" actId="14100"/>
          <ac:spMkLst>
            <pc:docMk/>
            <pc:sldMk cId="1118294457" sldId="258"/>
            <ac:spMk id="2" creationId="{659E4AC8-C141-AFF6-F619-316ABBFD6928}"/>
          </ac:spMkLst>
        </pc:spChg>
        <pc:spChg chg="del">
          <ac:chgData name="Hardik Mudgal" userId="0d7af00a1966c7e5" providerId="LiveId" clId="{A38D9160-99D5-4D1B-AA30-5D963F8B5859}" dt="2026-04-10T18:54:11.887" v="199" actId="3680"/>
          <ac:spMkLst>
            <pc:docMk/>
            <pc:sldMk cId="1118294457" sldId="258"/>
            <ac:spMk id="3" creationId="{A14ED48D-6876-F40B-A702-3F1705E93D18}"/>
          </ac:spMkLst>
        </pc:spChg>
        <pc:graphicFrameChg chg="add mod ord modGraphic">
          <ac:chgData name="Hardik Mudgal" userId="0d7af00a1966c7e5" providerId="LiveId" clId="{A38D9160-99D5-4D1B-AA30-5D963F8B5859}" dt="2026-04-10T18:54:45.708" v="204" actId="14100"/>
          <ac:graphicFrameMkLst>
            <pc:docMk/>
            <pc:sldMk cId="1118294457" sldId="258"/>
            <ac:graphicFrameMk id="4" creationId="{45E6AE7A-243A-731E-6F46-531347A11204}"/>
          </ac:graphicFrameMkLst>
        </pc:graphicFrameChg>
      </pc:sldChg>
      <pc:sldChg chg="addSp delSp modSp new mod">
        <pc:chgData name="Hardik Mudgal" userId="0d7af00a1966c7e5" providerId="LiveId" clId="{A38D9160-99D5-4D1B-AA30-5D963F8B5859}" dt="2026-04-10T18:57:41.215" v="242" actId="20577"/>
        <pc:sldMkLst>
          <pc:docMk/>
          <pc:sldMk cId="1070690741" sldId="259"/>
        </pc:sldMkLst>
        <pc:spChg chg="mod">
          <ac:chgData name="Hardik Mudgal" userId="0d7af00a1966c7e5" providerId="LiveId" clId="{A38D9160-99D5-4D1B-AA30-5D963F8B5859}" dt="2026-04-10T18:55:17.878" v="206"/>
          <ac:spMkLst>
            <pc:docMk/>
            <pc:sldMk cId="1070690741" sldId="259"/>
            <ac:spMk id="2" creationId="{26192D80-7E1F-02BE-4192-B72FD2F2B7C8}"/>
          </ac:spMkLst>
        </pc:spChg>
        <pc:spChg chg="add del mod">
          <ac:chgData name="Hardik Mudgal" userId="0d7af00a1966c7e5" providerId="LiveId" clId="{A38D9160-99D5-4D1B-AA30-5D963F8B5859}" dt="2026-04-10T18:57:41.215" v="242" actId="20577"/>
          <ac:spMkLst>
            <pc:docMk/>
            <pc:sldMk cId="1070690741" sldId="259"/>
            <ac:spMk id="3" creationId="{8B27A01A-BB75-35D2-4ECC-7686E3464AF8}"/>
          </ac:spMkLst>
        </pc:spChg>
        <pc:spChg chg="add mod">
          <ac:chgData name="Hardik Mudgal" userId="0d7af00a1966c7e5" providerId="LiveId" clId="{A38D9160-99D5-4D1B-AA30-5D963F8B5859}" dt="2026-04-10T18:56:11.452" v="234"/>
          <ac:spMkLst>
            <pc:docMk/>
            <pc:sldMk cId="1070690741" sldId="259"/>
            <ac:spMk id="4" creationId="{5EB8B8B2-F6F0-2174-D538-1CF0077BEDB8}"/>
          </ac:spMkLst>
        </pc:spChg>
      </pc:sldChg>
      <pc:sldMasterChg chg="setBg modSldLayout">
        <pc:chgData name="Hardik Mudgal" userId="0d7af00a1966c7e5" providerId="LiveId" clId="{A38D9160-99D5-4D1B-AA30-5D963F8B5859}" dt="2026-04-10T20:36:37.846" v="269"/>
        <pc:sldMasterMkLst>
          <pc:docMk/>
          <pc:sldMasterMk cId="2718986317" sldId="2147483701"/>
        </pc:sldMasterMkLst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1891275644" sldId="2147483702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2733858221" sldId="2147483703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809033661" sldId="2147483704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4138054777" sldId="2147483705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868431175" sldId="2147483706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1511365071" sldId="2147483707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3767445454" sldId="2147483708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3701191968" sldId="2147483709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4026207447" sldId="2147483710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2245896514" sldId="2147483711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1843191256" sldId="2147483712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3979184793" sldId="2147483713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915435579" sldId="2147483714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1365211604" sldId="2147483715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954025695" sldId="2147483716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3944054048" sldId="2147483717"/>
          </pc:sldLayoutMkLst>
        </pc:sldLayoutChg>
        <pc:sldLayoutChg chg="setBg">
          <pc:chgData name="Hardik Mudgal" userId="0d7af00a1966c7e5" providerId="LiveId" clId="{A38D9160-99D5-4D1B-AA30-5D963F8B5859}" dt="2026-04-10T20:36:37.846" v="269"/>
          <pc:sldLayoutMkLst>
            <pc:docMk/>
            <pc:sldMasterMk cId="2718986317" sldId="2147483701"/>
            <pc:sldLayoutMk cId="960240352" sldId="214748371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7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5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03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05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43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365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44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19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207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89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191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918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435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211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025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054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24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Cutout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82093AE-AA7F-45A8-A0DB-FA1B8A0D954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F3B4F3F-05AE-4DAF-A010-357C67DDD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986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hardikmudgal7793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BB62-AA29-602C-044A-871839D89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10267"/>
            <a:ext cx="12309987" cy="1506379"/>
          </a:xfrm>
        </p:spPr>
        <p:txBody>
          <a:bodyPr/>
          <a:lstStyle/>
          <a:p>
            <a:pPr algn="ctr"/>
            <a:r>
              <a:rPr lang="en-IN" sz="4000" dirty="0"/>
              <a:t>Marketing Campaign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61F83-BC40-5DB3-79FA-74678A105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794"/>
            <a:ext cx="12192000" cy="2033131"/>
          </a:xfrm>
        </p:spPr>
        <p:txBody>
          <a:bodyPr>
            <a:normAutofit/>
          </a:bodyPr>
          <a:lstStyle/>
          <a:p>
            <a:pPr algn="ctr"/>
            <a:r>
              <a:rPr lang="en-IN" sz="2400" dirty="0"/>
              <a:t>Data-Driven Insights &amp; Strategic Recommendations</a:t>
            </a:r>
          </a:p>
          <a:p>
            <a:pPr algn="ctr"/>
            <a:endParaRPr lang="en-IN" sz="2400" dirty="0"/>
          </a:p>
          <a:p>
            <a:pPr algn="ctr"/>
            <a:endParaRPr lang="en-IN" sz="2400" dirty="0"/>
          </a:p>
          <a:p>
            <a:pPr algn="l"/>
            <a:r>
              <a:rPr lang="en-IN" sz="2000" dirty="0"/>
              <a:t>                                                                                                                                            ~HARDIK MUDGAL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9735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CADC-4E4E-4DF3-6D13-3018608E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0"/>
            <a:ext cx="12192000" cy="81607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</a:t>
            </a:r>
            <a:r>
              <a:rPr lang="en-IN" dirty="0"/>
              <a:t>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258CBC-A812-4F70-AC08-74D3315192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3979" y="1514584"/>
            <a:ext cx="9646537" cy="4969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Analyzed 200,000+ marketing campaigns across 6 channels and 5 campaign types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Total Revenue Generated: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$20.9B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across 2021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Top Performing Channel: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Google Ads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($8.14B revenue, highest ROI)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Top Campaign Type: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Influencer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($8.07B revenue)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937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4AC8-C141-AFF6-F619-316ABBFD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09600"/>
            <a:ext cx="12192000" cy="7865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IN" dirty="0"/>
              <a:t> Findings: Channel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E6AE7A-243A-731E-6F46-531347A11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370712"/>
              </p:ext>
            </p:extLst>
          </p:nvPr>
        </p:nvGraphicFramePr>
        <p:xfrm>
          <a:off x="1729932" y="1765373"/>
          <a:ext cx="8732136" cy="396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034">
                  <a:extLst>
                    <a:ext uri="{9D8B030D-6E8A-4147-A177-3AD203B41FA5}">
                      <a16:colId xmlns:a16="http://schemas.microsoft.com/office/drawing/2014/main" val="1628826441"/>
                    </a:ext>
                  </a:extLst>
                </a:gridCol>
                <a:gridCol w="2183034">
                  <a:extLst>
                    <a:ext uri="{9D8B030D-6E8A-4147-A177-3AD203B41FA5}">
                      <a16:colId xmlns:a16="http://schemas.microsoft.com/office/drawing/2014/main" val="1465042131"/>
                    </a:ext>
                  </a:extLst>
                </a:gridCol>
                <a:gridCol w="2183034">
                  <a:extLst>
                    <a:ext uri="{9D8B030D-6E8A-4147-A177-3AD203B41FA5}">
                      <a16:colId xmlns:a16="http://schemas.microsoft.com/office/drawing/2014/main" val="3106601232"/>
                    </a:ext>
                  </a:extLst>
                </a:gridCol>
                <a:gridCol w="2183034">
                  <a:extLst>
                    <a:ext uri="{9D8B030D-6E8A-4147-A177-3AD203B41FA5}">
                      <a16:colId xmlns:a16="http://schemas.microsoft.com/office/drawing/2014/main" val="729494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261412"/>
                  </a:ext>
                </a:extLst>
              </a:tr>
              <a:tr h="436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Google 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$8.14B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Highest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Best performer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523186"/>
                  </a:ext>
                </a:extLst>
              </a:tr>
              <a:tr h="436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Facebook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$4.60B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Strong secondary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084793"/>
                  </a:ext>
                </a:extLst>
              </a:tr>
              <a:tr h="764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YouTube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$2.96B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Growth potential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736787"/>
                  </a:ext>
                </a:extLst>
              </a:tr>
              <a:tr h="764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Instagram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$2.89B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Engagement driven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602425"/>
                  </a:ext>
                </a:extLst>
              </a:tr>
              <a:tr h="436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$1.55B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Cost 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711036"/>
                  </a:ext>
                </a:extLst>
              </a:tr>
              <a:tr h="764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Website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$0.75B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Needs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76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29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B065E5-7200-D2A2-A878-F9FD400E1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923" y="845574"/>
            <a:ext cx="10756490" cy="507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34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2D80-7E1F-02BE-4192-B72FD2F2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0"/>
            <a:ext cx="12191999" cy="72758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IN" dirty="0"/>
              <a:t> Findings: Seasonal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7A01A-BB75-35D2-4ECC-7686E346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31" y="1830004"/>
            <a:ext cx="10177479" cy="3197991"/>
          </a:xfrm>
        </p:spPr>
        <p:txBody>
          <a:bodyPr>
            <a:no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Revenue dips significantly in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Jan-Feb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(post holiday slowdown)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Steady growth from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March through October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Peak performance in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November ($2.74B)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December ($3.12B)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— Holiday season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August shows a mid-year spike — likely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Back to School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campaigns</a:t>
            </a:r>
          </a:p>
        </p:txBody>
      </p:sp>
    </p:spTree>
    <p:extLst>
      <p:ext uri="{BB962C8B-B14F-4D97-AF65-F5344CB8AC3E}">
        <p14:creationId xmlns:p14="http://schemas.microsoft.com/office/powerpoint/2010/main" val="107069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CE77CB-3613-FB77-C865-EAD9CA3C7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394" y="796413"/>
            <a:ext cx="10235380" cy="527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9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CBBE9-1F91-21B6-E8FB-48DFC908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0"/>
            <a:ext cx="12192000" cy="77674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IN" dirty="0"/>
              <a:t> Findings: Customer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76427-CAF8-178F-713B-7770760E5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50" y="1904950"/>
            <a:ext cx="8596668" cy="3620778"/>
          </a:xfrm>
        </p:spPr>
        <p:txBody>
          <a:bodyPr>
            <a:normAutofit/>
          </a:bodyPr>
          <a:lstStyle/>
          <a:p>
            <a:pPr indent="-3420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Tech Enthusiasts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drive the highest revenue ($6.70B) </a:t>
            </a:r>
          </a:p>
          <a:p>
            <a:pPr indent="-3420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Fashionistas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are strong second ($5.19B) </a:t>
            </a:r>
          </a:p>
          <a:p>
            <a:pPr indent="-3420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Outdoor Adventurers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significantly underperform ($2.09B) </a:t>
            </a:r>
          </a:p>
          <a:p>
            <a:pPr indent="-3420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Top 2 segments contribute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57%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of total revenue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5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DA8296-9E7F-6483-933E-B75071103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715" y="1130710"/>
            <a:ext cx="9999407" cy="49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6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CB9A-DE21-4E49-F600-21FC62E6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991727"/>
          </a:xfrm>
        </p:spPr>
        <p:txBody>
          <a:bodyPr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EBD4E-D810-F2CD-1965-241A4A364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819"/>
            <a:ext cx="10515600" cy="498854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dirty="0"/>
              <a:t>Recommendation 1: Double down on Google Ads + Influencer combo</a:t>
            </a:r>
          </a:p>
          <a:p>
            <a:r>
              <a:rPr lang="en-US" sz="3200" dirty="0"/>
              <a:t>Google Ads delivers highest ROI</a:t>
            </a:r>
          </a:p>
          <a:p>
            <a:r>
              <a:rPr lang="en-US" sz="3200" dirty="0"/>
              <a:t>Influencer campaigns drive highest revenue</a:t>
            </a:r>
          </a:p>
          <a:p>
            <a:r>
              <a:rPr lang="en-US" sz="3200" dirty="0"/>
              <a:t>Allocate </a:t>
            </a:r>
            <a:r>
              <a:rPr lang="en-US" sz="3200" b="1" dirty="0"/>
              <a:t>40% of budget</a:t>
            </a:r>
            <a:r>
              <a:rPr lang="en-US" sz="3200" dirty="0"/>
              <a:t> to this combination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Recommendation 2: Capitalize on Holiday Seasonality</a:t>
            </a:r>
          </a:p>
          <a:p>
            <a:r>
              <a:rPr lang="en-US" sz="3200" dirty="0"/>
              <a:t>Nov-Dec generates </a:t>
            </a:r>
            <a:r>
              <a:rPr lang="en-US" sz="3200" b="1" dirty="0"/>
              <a:t>30% more</a:t>
            </a:r>
            <a:r>
              <a:rPr lang="en-US" sz="3200" dirty="0"/>
              <a:t> revenue than average months</a:t>
            </a:r>
          </a:p>
          <a:p>
            <a:r>
              <a:rPr lang="en-US" sz="3200" dirty="0"/>
              <a:t>Plan campaigns </a:t>
            </a:r>
            <a:r>
              <a:rPr lang="en-US" sz="3200" b="1" dirty="0"/>
              <a:t>6-8 weeks in advance</a:t>
            </a:r>
            <a:r>
              <a:rPr lang="en-US" sz="3200" dirty="0"/>
              <a:t> for Black Friday &amp; Christmas</a:t>
            </a:r>
          </a:p>
          <a:p>
            <a:r>
              <a:rPr lang="en-US" sz="3200" dirty="0"/>
              <a:t>Reduce spend in Jan-Feb and reallocate to Q4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Recommendation 3: Re-engage Tech Enthusiasts &amp; Fashionistas</a:t>
            </a:r>
          </a:p>
          <a:p>
            <a:r>
              <a:rPr lang="en-US" sz="3200" dirty="0"/>
              <a:t>These 2 segments drive 57% of revenue</a:t>
            </a:r>
          </a:p>
          <a:p>
            <a:r>
              <a:rPr lang="en-US" sz="3200" dirty="0"/>
              <a:t>Create </a:t>
            </a:r>
            <a:r>
              <a:rPr lang="en-US" sz="3200" b="1" dirty="0"/>
              <a:t>dedicated campaigns</a:t>
            </a:r>
            <a:r>
              <a:rPr lang="en-US" sz="3200" dirty="0"/>
              <a:t> targeting these segments via Google Ads</a:t>
            </a:r>
          </a:p>
          <a:p>
            <a:r>
              <a:rPr lang="en-US" sz="3200" dirty="0"/>
              <a:t>Use </a:t>
            </a:r>
            <a:r>
              <a:rPr lang="en-US" sz="3200" b="1" dirty="0"/>
              <a:t>personalized influencer content</a:t>
            </a:r>
            <a:r>
              <a:rPr lang="en-US" sz="3200" dirty="0"/>
              <a:t> for Fashionistas specifically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15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3E71-83EF-B391-FF40-26CC1361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001559"/>
          </a:xfrm>
        </p:spPr>
        <p:txBody>
          <a:bodyPr/>
          <a:lstStyle/>
          <a:p>
            <a:pPr algn="ctr"/>
            <a:r>
              <a:rPr lang="en-IN" dirty="0"/>
              <a:t>Expected Business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FED9A-3583-106E-BB68-941E50B1FC7F}"/>
              </a:ext>
            </a:extLst>
          </p:cNvPr>
          <p:cNvSpPr txBox="1"/>
          <p:nvPr/>
        </p:nvSpPr>
        <p:spPr>
          <a:xfrm>
            <a:off x="838199" y="5063613"/>
            <a:ext cx="88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Projected 20-25% overall revenue increase by end of 2026</a:t>
            </a:r>
            <a:endParaRPr lang="en-IN" sz="2000" b="1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8E6DB56-82B9-FD39-35DE-E2E3DA8086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2043947"/>
              </p:ext>
            </p:extLst>
          </p:nvPr>
        </p:nvGraphicFramePr>
        <p:xfrm>
          <a:off x="838199" y="1700980"/>
          <a:ext cx="10233024" cy="3165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1008">
                  <a:extLst>
                    <a:ext uri="{9D8B030D-6E8A-4147-A177-3AD203B41FA5}">
                      <a16:colId xmlns:a16="http://schemas.microsoft.com/office/drawing/2014/main" val="908429875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4137974378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2586362001"/>
                    </a:ext>
                  </a:extLst>
                </a:gridCol>
              </a:tblGrid>
              <a:tr h="7914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Expected Revenue Lift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091613"/>
                  </a:ext>
                </a:extLst>
              </a:tr>
              <a:tr h="7914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Google Ads + Influencer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+15-20% ROI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Q1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416342"/>
                  </a:ext>
                </a:extLst>
              </a:tr>
              <a:tr h="7914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Holiday campaign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+25-30% Q4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Q3-Q4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02372"/>
                  </a:ext>
                </a:extLst>
              </a:tr>
              <a:tr h="7914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Segment-focused targeting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+10-15% Conversion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Q2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43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21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4ECAA0-123F-EEEE-44D4-DE294471E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9947"/>
            <a:ext cx="12191999" cy="754025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YOU</a:t>
            </a: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A0983-9F4C-99C6-7094-944CA465D4D5}"/>
              </a:ext>
            </a:extLst>
          </p:cNvPr>
          <p:cNvSpPr txBox="1"/>
          <p:nvPr/>
        </p:nvSpPr>
        <p:spPr>
          <a:xfrm>
            <a:off x="1052052" y="2556387"/>
            <a:ext cx="9940413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HARDIK MUDGAL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hardikmudgal7793@gmail.com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+91 8529165345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117959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83</TotalTime>
  <Words>346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Depth</vt:lpstr>
      <vt:lpstr>Marketing Campaign Performance Analysis</vt:lpstr>
      <vt:lpstr>Executive Summary</vt:lpstr>
      <vt:lpstr>Key Findings: Channel Performance</vt:lpstr>
      <vt:lpstr>PowerPoint Presentation</vt:lpstr>
      <vt:lpstr>Key Findings: Seasonal Trends</vt:lpstr>
      <vt:lpstr>PowerPoint Presentation</vt:lpstr>
      <vt:lpstr>Key Findings: Customer Segments</vt:lpstr>
      <vt:lpstr>PowerPoint Presentation</vt:lpstr>
      <vt:lpstr>3 Strategic Recommendations</vt:lpstr>
      <vt:lpstr>Expected Business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Hardik Mudgal</dc:creator>
  <cp:lastModifiedBy>Hardik Mudgal</cp:lastModifiedBy>
  <cp:revision>29</cp:revision>
  <dcterms:created xsi:type="dcterms:W3CDTF">2026-04-10T18:38:17Z</dcterms:created>
  <dcterms:modified xsi:type="dcterms:W3CDTF">2026-04-10T20:37:43Z</dcterms:modified>
</cp:coreProperties>
</file>